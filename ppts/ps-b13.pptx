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Aptos Light" panose="020B0004020202020204" pitchFamily="34" charset="0"/>
      <p:regular r:id="rId10"/>
      <p:italic r:id="rId11"/>
    </p:embeddedFont>
    <p:embeddedFont>
      <p:font typeface="Google Sans Medium" panose="020B0604020202020204" charset="0"/>
      <p:regular r:id="rId12"/>
      <p:bold r:id="rId13"/>
      <p:italic r:id="rId14"/>
      <p:boldItalic r:id="rId15"/>
    </p:embeddedFont>
    <p:embeddedFont>
      <p:font typeface="Walbaum Display" panose="02070503090703020303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8" userDrawn="1">
          <p15:clr>
            <a:srgbClr val="747775"/>
          </p15:clr>
        </p15:guide>
        <p15:guide id="2" pos="285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CFA20-D57C-4077-AABB-176AAF01331F}" v="5" dt="2026-08-09T09:48:43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604385C-1821-4667-A3C8-A09A6C51C1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1648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657045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260080"/>
            <a:ext cx="6858000" cy="800168"/>
          </a:xfrm>
        </p:spPr>
        <p:txBody>
          <a:bodyPr anchor="t">
            <a:normAutofit/>
          </a:bodyPr>
          <a:lstStyle>
            <a:lvl1pPr marL="0" indent="0" algn="ctr">
              <a:buNone/>
              <a:defRPr sz="2844" cap="all" spc="533" baseline="0"/>
            </a:lvl1pPr>
            <a:lvl2pPr marL="812810" indent="0" algn="ctr">
              <a:buNone/>
              <a:defRPr sz="2844"/>
            </a:lvl2pPr>
            <a:lvl3pPr marL="1625620" indent="0" algn="ctr">
              <a:buNone/>
              <a:defRPr sz="2844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79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1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77" y="1136017"/>
            <a:ext cx="6438123" cy="2354156"/>
          </a:xfrm>
        </p:spPr>
        <p:txBody>
          <a:bodyPr anchor="b">
            <a:normAutofit/>
          </a:bodyPr>
          <a:lstStyle>
            <a:lvl1pPr>
              <a:defRPr sz="6400" cap="all" spc="53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5677" y="3722914"/>
            <a:ext cx="6438124" cy="844324"/>
          </a:xfrm>
        </p:spPr>
        <p:txBody>
          <a:bodyPr>
            <a:normAutofit/>
          </a:bodyPr>
          <a:lstStyle>
            <a:lvl1pPr marL="0" indent="0">
              <a:buNone/>
              <a:defRPr sz="2844" cap="all" spc="533" baseline="0">
                <a:solidFill>
                  <a:schemeClr val="tx2"/>
                </a:solidFill>
              </a:defRPr>
            </a:lvl1pPr>
            <a:lvl2pPr marL="81281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19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8368" y="1619382"/>
            <a:ext cx="3733090" cy="3013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6293" y="1619382"/>
            <a:ext cx="3739339" cy="3013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2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12" y="452003"/>
            <a:ext cx="7821977" cy="5766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012" y="1272244"/>
            <a:ext cx="3722654" cy="485775"/>
          </a:xfrm>
        </p:spPr>
        <p:txBody>
          <a:bodyPr anchor="b">
            <a:noAutofit/>
          </a:bodyPr>
          <a:lstStyle>
            <a:lvl1pPr marL="0" indent="0">
              <a:buNone/>
              <a:defRPr sz="2489" b="1" cap="all" spc="533" baseline="0"/>
            </a:lvl1pPr>
            <a:lvl2pPr marL="812810" indent="0">
              <a:buNone/>
              <a:defRPr sz="2489" b="1"/>
            </a:lvl2pPr>
            <a:lvl3pPr marL="1625620" indent="0">
              <a:buNone/>
              <a:defRPr sz="2489" b="1"/>
            </a:lvl3pPr>
            <a:lvl4pPr marL="2438430" indent="0">
              <a:buNone/>
              <a:defRPr sz="2489" b="1"/>
            </a:lvl4pPr>
            <a:lvl5pPr marL="3251241" indent="0">
              <a:buNone/>
              <a:defRPr sz="2489" b="1"/>
            </a:lvl5pPr>
            <a:lvl6pPr marL="4064051" indent="0">
              <a:buNone/>
              <a:defRPr sz="2489" b="1"/>
            </a:lvl6pPr>
            <a:lvl7pPr marL="4876861" indent="0">
              <a:buNone/>
              <a:defRPr sz="2489" b="1"/>
            </a:lvl7pPr>
            <a:lvl8pPr marL="5689671" indent="0">
              <a:buNone/>
              <a:defRPr sz="2489" b="1"/>
            </a:lvl8pPr>
            <a:lvl9pPr marL="6502481" indent="0">
              <a:buNone/>
              <a:defRPr sz="24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012" y="1758019"/>
            <a:ext cx="3722654" cy="2875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2002" y="1272244"/>
            <a:ext cx="3740987" cy="485775"/>
          </a:xfrm>
        </p:spPr>
        <p:txBody>
          <a:bodyPr anchor="b">
            <a:noAutofit/>
          </a:bodyPr>
          <a:lstStyle>
            <a:lvl1pPr marL="0" indent="0">
              <a:buNone/>
              <a:defRPr sz="2489" b="1" cap="all" spc="533" baseline="0"/>
            </a:lvl1pPr>
            <a:lvl2pPr marL="812810" indent="0">
              <a:buNone/>
              <a:defRPr sz="2489" b="1"/>
            </a:lvl2pPr>
            <a:lvl3pPr marL="1625620" indent="0">
              <a:buNone/>
              <a:defRPr sz="2489" b="1"/>
            </a:lvl3pPr>
            <a:lvl4pPr marL="2438430" indent="0">
              <a:buNone/>
              <a:defRPr sz="2489" b="1"/>
            </a:lvl4pPr>
            <a:lvl5pPr marL="3251241" indent="0">
              <a:buNone/>
              <a:defRPr sz="2489" b="1"/>
            </a:lvl5pPr>
            <a:lvl6pPr marL="4064051" indent="0">
              <a:buNone/>
              <a:defRPr sz="2489" b="1"/>
            </a:lvl6pPr>
            <a:lvl7pPr marL="4876861" indent="0">
              <a:buNone/>
              <a:defRPr sz="2489" b="1"/>
            </a:lvl7pPr>
            <a:lvl8pPr marL="5689671" indent="0">
              <a:buNone/>
              <a:defRPr sz="2489" b="1"/>
            </a:lvl8pPr>
            <a:lvl9pPr marL="6502481" indent="0">
              <a:buNone/>
              <a:defRPr sz="24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2002" y="1758019"/>
            <a:ext cx="3740987" cy="2875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5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605901"/>
            <a:ext cx="2730535" cy="1546946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674" y="605901"/>
            <a:ext cx="4441867" cy="3789887"/>
          </a:xfrm>
        </p:spPr>
        <p:txBody>
          <a:bodyPr>
            <a:normAutofit/>
          </a:bodyPr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250489"/>
            <a:ext cx="2730535" cy="2151252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0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615661"/>
            <a:ext cx="2729484" cy="1546946"/>
          </a:xfrm>
        </p:spPr>
        <p:txBody>
          <a:bodyPr anchor="t">
            <a:normAutofit/>
          </a:bodyPr>
          <a:lstStyle>
            <a:lvl1pPr>
              <a:defRPr sz="49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935557" y="689696"/>
            <a:ext cx="4580984" cy="3760211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250489"/>
            <a:ext cx="2732917" cy="2151252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2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99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444211"/>
            <a:ext cx="1971675" cy="41885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44211"/>
            <a:ext cx="5800725" cy="41885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9144000" cy="514512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31" y="441184"/>
            <a:ext cx="7837338" cy="9494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68" y="1618489"/>
            <a:ext cx="7831836" cy="2927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8368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 cap="all" spc="533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240" y="4767263"/>
            <a:ext cx="32232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cap="all" spc="533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2500" y="4767263"/>
            <a:ext cx="390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9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620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2862" userDrawn="1">
          <p15:clr>
            <a:srgbClr val="F26B43"/>
          </p15:clr>
        </p15:guide>
        <p15:guide id="6" orient="horz" pos="8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1.jpe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-meteo.com/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arxiv.org/abs/1705.07874" TargetMode="Externa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andapower.org/" TargetMode="External"/><Relationship Id="rId11" Type="http://schemas.openxmlformats.org/officeDocument/2006/relationships/image" Target="../media/image19.png"/><Relationship Id="rId5" Type="http://schemas.openxmlformats.org/officeDocument/2006/relationships/hyperlink" Target="https://cmte.ieee.org/pes-testfeeders/" TargetMode="External"/><Relationship Id="rId10" Type="http://schemas.openxmlformats.org/officeDocument/2006/relationships/image" Target="../media/image18.png"/><Relationship Id="rId4" Type="http://schemas.openxmlformats.org/officeDocument/2006/relationships/image" Target="../media/image2.jpe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310315" y="457972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  <a:buSzPts val="1600"/>
            </a:pPr>
            <a:endParaRPr sz="1600" b="0" i="0" u="none" strike="noStrike" cap="non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" y="69078"/>
            <a:ext cx="603559" cy="6055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693" y="0"/>
            <a:ext cx="862361" cy="58512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345" y="121285"/>
            <a:ext cx="6960235" cy="2747010"/>
          </a:xfrm>
          <a:prstGeom prst="rect">
            <a:avLst/>
          </a:prstGeom>
        </p:spPr>
      </p:pic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1E43C680-3683-EC00-F267-BABCE4B6788B}"/>
              </a:ext>
            </a:extLst>
          </p:cNvPr>
          <p:cNvSpPr txBox="1"/>
          <p:nvPr/>
        </p:nvSpPr>
        <p:spPr>
          <a:xfrm>
            <a:off x="504624" y="3053504"/>
            <a:ext cx="8520430" cy="1924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0000"/>
              </a:lnSpc>
              <a:buSzPts val="1600"/>
            </a:pPr>
            <a:r>
              <a:rPr lang="en-IN" sz="1600" b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Team ID: </a:t>
            </a:r>
            <a:r>
              <a:rPr lang="en-IN" sz="1600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I4I 249</a:t>
            </a: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r>
              <a:rPr lang="en-IN" sz="1600" b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Team Name: </a:t>
            </a:r>
            <a:r>
              <a:rPr lang="en-IN" sz="1600" err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InnoVision</a:t>
            </a: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r>
              <a:rPr lang="en-IN" sz="1600" b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Team Leader Name: </a:t>
            </a:r>
            <a:r>
              <a:rPr lang="en-IN" sz="1600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Samruddhi </a:t>
            </a:r>
            <a:r>
              <a:rPr lang="en-IN" sz="1600" err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Birajdar</a:t>
            </a:r>
            <a:endParaRPr lang="en-IN" sz="1600">
              <a:solidFill>
                <a:srgbClr val="202729"/>
              </a:solidFill>
              <a:latin typeface="Times New Roman" panose="02020603050405020304" pitchFamily="18" charset="0"/>
              <a:ea typeface="Google Sans Medium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600" b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University/Institute/College: </a:t>
            </a:r>
            <a:r>
              <a:rPr lang="en-IN" sz="1600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Vishwakarma Institute of Technology, Pune</a:t>
            </a:r>
            <a:br>
              <a:rPr lang="en-IN" sz="1600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r>
              <a:rPr lang="en-IN" sz="1600" b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P.S Category: </a:t>
            </a:r>
            <a:r>
              <a:rPr lang="en-IN" sz="1600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Both (Software + Hardware)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600" b="1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P.S ID: </a:t>
            </a:r>
            <a:r>
              <a:rPr lang="en-IN" sz="1600">
                <a:solidFill>
                  <a:srgbClr val="202729"/>
                </a:solidFill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  <a:sym typeface="Google Sans Medium"/>
              </a:rPr>
              <a:t>PS-B13</a:t>
            </a:r>
            <a:endParaRPr lang="en-IN" sz="1600">
              <a:latin typeface="Times New Roman" panose="02020603050405020304" pitchFamily="18" charset="0"/>
              <a:ea typeface="Google Sans Medium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SzPts val="1600"/>
            </a:pP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br>
              <a:rPr lang="en-IN" sz="1600" b="1">
                <a:latin typeface="Times New Roman" panose="02020603050405020304" pitchFamily="18" charset="0"/>
                <a:ea typeface="Google Sans Medium"/>
                <a:cs typeface="Times New Roman" panose="02020603050405020304" pitchFamily="18" charset="0"/>
              </a:rPr>
            </a:br>
            <a:endParaRPr lang="en-IN" sz="1600" i="0" u="none" strike="noStrike" cap="none">
              <a:solidFill>
                <a:srgbClr val="202729"/>
              </a:solidFill>
              <a:latin typeface="Times New Roman" panose="02020603050405020304" pitchFamily="18" charset="0"/>
              <a:ea typeface="Google Sans Medium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370500" y="3713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 panose="020B0604020202020204"/>
              <a:buNone/>
            </a:pPr>
            <a:r>
              <a:rPr lang="en-GB" sz="205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30665190"/>
              </p:ext>
            </p:extLst>
          </p:nvPr>
        </p:nvGraphicFramePr>
        <p:xfrm>
          <a:off x="1029629" y="991579"/>
          <a:ext cx="7084742" cy="39928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4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2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148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/>
                        <a:t>Team Leader: </a:t>
                      </a: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lang="en-IN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/>
                        <a:t>Name: Samruddhi </a:t>
                      </a:r>
                      <a:r>
                        <a:rPr lang="en-GB" sz="1400" u="none" strike="noStrike" cap="none" dirty="0" err="1"/>
                        <a:t>Birajdar</a:t>
                      </a:r>
                      <a:endParaRPr lang="en-IN" sz="1400" u="none" strike="noStrike" cap="none" dirty="0"/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Department:</a:t>
                      </a: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</a:rPr>
                        <a:t> Department of Electronics &amp; Telecommunication Engineering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Role: Hardware Lead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Name: Manasvi Dhawale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Department</a:t>
                      </a: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</a:rPr>
                        <a:t>: Department of Computer Science and Engineering (Data Science)</a:t>
                      </a:r>
                      <a:b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</a:rPr>
                        <a:t>Role: ML Engineer / Data Pipeline</a:t>
                      </a:r>
                      <a:endParaRPr lang="en-IN" sz="1400" b="0" u="none" strike="noStrike" cap="none" dirty="0">
                        <a:solidFill>
                          <a:srgbClr val="000000"/>
                        </a:solidFill>
                        <a:effectLst/>
                        <a:sym typeface="Arial" panose="020B06040202020202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7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Team Member-3: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Name: Swaraj Gaikwad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Department:</a:t>
                      </a: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</a:rPr>
                        <a:t> Department of Computer Science and Engineering (Data Science)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Role: Backend + GNN Developer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Team Member-4: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u="none" strike="noStrike" cap="none" dirty="0">
                          <a:solidFill>
                            <a:schemeClr val="dk1"/>
                          </a:solidFill>
                        </a:rPr>
                        <a:t>Name: Aditi Kulkarni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Department:</a:t>
                      </a: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</a:rPr>
                        <a:t> Department of Mechanical Engineering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 panose="020B0604020202020204"/>
                        </a:rPr>
                        <a:t>Role: System Integration &amp; Testing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0135" cy="7426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814" y="20213"/>
            <a:ext cx="817186" cy="702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0135" cy="7426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814" y="20213"/>
            <a:ext cx="817186" cy="7021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1652" y="62783"/>
            <a:ext cx="72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                  </a:t>
            </a:r>
            <a:r>
              <a:rPr lang="en-US" sz="32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lang="en-US" sz="3200"/>
          </a:p>
        </p:txBody>
      </p:sp>
      <p:sp>
        <p:nvSpPr>
          <p:cNvPr id="4" name="TextBox 3"/>
          <p:cNvSpPr txBox="1"/>
          <p:nvPr/>
        </p:nvSpPr>
        <p:spPr>
          <a:xfrm>
            <a:off x="370067" y="1150257"/>
            <a:ext cx="3735673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The Problem:</a:t>
            </a:r>
            <a:br>
              <a:rPr lang="en-IN" sz="1100" dirty="0"/>
            </a:br>
            <a:r>
              <a:rPr lang="en-IN" sz="1100" dirty="0"/>
              <a:t>- Rural feeders span </a:t>
            </a:r>
            <a:r>
              <a:rPr lang="en-IN" sz="1100" b="1" dirty="0"/>
              <a:t>50-100 km </a:t>
            </a:r>
            <a:r>
              <a:rPr lang="en-IN" sz="1100" dirty="0"/>
              <a:t>→ almost </a:t>
            </a:r>
            <a:r>
              <a:rPr lang="en-IN" sz="1100" b="1" dirty="0"/>
              <a:t>zero mid-point sensors</a:t>
            </a:r>
          </a:p>
          <a:p>
            <a:r>
              <a:rPr lang="en-IN" sz="1100" dirty="0"/>
              <a:t>- Fault location is </a:t>
            </a:r>
            <a:r>
              <a:rPr lang="en-IN" sz="1100" b="1" dirty="0"/>
              <a:t>manual </a:t>
            </a:r>
            <a:r>
              <a:rPr lang="en-IN" sz="1100" dirty="0"/>
              <a:t>→ crews walk the entire line</a:t>
            </a:r>
          </a:p>
          <a:p>
            <a:r>
              <a:rPr lang="en-IN" sz="1100" dirty="0"/>
              <a:t>- Result: </a:t>
            </a:r>
            <a:r>
              <a:rPr lang="en-IN" sz="1100" b="1" dirty="0"/>
              <a:t>6-24 hour outages </a:t>
            </a:r>
            <a:r>
              <a:rPr lang="en-IN" sz="1100" dirty="0"/>
              <a:t>for a fault fixable in </a:t>
            </a:r>
            <a:r>
              <a:rPr lang="en-IN" sz="1100" b="1" dirty="0"/>
              <a:t>30 minutes</a:t>
            </a:r>
          </a:p>
          <a:p>
            <a:r>
              <a:rPr lang="en-IN" sz="1100" dirty="0"/>
              <a:t>- Root causes: conductor damage, transformer overload, vegetation contact, illegal taps, </a:t>
            </a:r>
            <a:r>
              <a:rPr lang="en-IN" sz="1100" b="1" dirty="0"/>
              <a:t>underground corrosion</a:t>
            </a:r>
          </a:p>
          <a:p>
            <a:endParaRPr lang="en-IN" sz="1100" dirty="0"/>
          </a:p>
          <a:p>
            <a:r>
              <a:rPr lang="en-IN" sz="1100" b="1" dirty="0"/>
              <a:t>What </a:t>
            </a:r>
            <a:r>
              <a:rPr lang="en-IN" sz="1100" b="1" dirty="0" err="1"/>
              <a:t>GridSentinel</a:t>
            </a:r>
            <a:r>
              <a:rPr lang="en-IN" sz="1100" b="1" dirty="0"/>
              <a:t> Does:</a:t>
            </a:r>
          </a:p>
          <a:p>
            <a:r>
              <a:rPr lang="en-IN" sz="1100" dirty="0"/>
              <a:t>- </a:t>
            </a:r>
            <a:r>
              <a:rPr lang="en-IN" sz="1100" b="1" dirty="0"/>
              <a:t>Detects</a:t>
            </a:r>
            <a:r>
              <a:rPr lang="en-IN" sz="1100" dirty="0"/>
              <a:t> real-time anomalies in voltage, current &amp; temperature</a:t>
            </a:r>
          </a:p>
          <a:p>
            <a:r>
              <a:rPr lang="en-IN" sz="1100" dirty="0"/>
              <a:t>- </a:t>
            </a:r>
            <a:r>
              <a:rPr lang="en-IN" sz="1100" b="1" dirty="0"/>
              <a:t>Localizes</a:t>
            </a:r>
            <a:r>
              <a:rPr lang="en-IN" sz="1100" dirty="0"/>
              <a:t> fault to a specific section via </a:t>
            </a:r>
            <a:r>
              <a:rPr lang="en-IN" sz="1100" b="1" dirty="0"/>
              <a:t>Graph Neural Network (GNN)</a:t>
            </a:r>
          </a:p>
          <a:p>
            <a:r>
              <a:rPr lang="en-IN" sz="1100" dirty="0"/>
              <a:t>- </a:t>
            </a:r>
            <a:r>
              <a:rPr lang="en-IN" sz="1100" b="1" dirty="0"/>
              <a:t>Classifies</a:t>
            </a:r>
            <a:r>
              <a:rPr lang="en-IN" sz="1100" dirty="0"/>
              <a:t> root cause (5 fault types) with confidence %</a:t>
            </a:r>
          </a:p>
          <a:p>
            <a:r>
              <a:rPr lang="en-IN" sz="1100" dirty="0"/>
              <a:t>- </a:t>
            </a:r>
            <a:r>
              <a:rPr lang="en-IN" sz="1100" b="1" dirty="0"/>
              <a:t>Maps</a:t>
            </a:r>
            <a:r>
              <a:rPr lang="en-IN" sz="1100" dirty="0"/>
              <a:t> affected villages + generates </a:t>
            </a:r>
            <a:r>
              <a:rPr lang="en-IN" sz="1100" b="1" dirty="0"/>
              <a:t>GIS crew priority route</a:t>
            </a:r>
          </a:p>
          <a:p>
            <a:r>
              <a:rPr lang="en-IN" sz="1100" dirty="0"/>
              <a:t>- </a:t>
            </a:r>
            <a:r>
              <a:rPr lang="en-IN" sz="1100" b="1" dirty="0"/>
              <a:t>Guides</a:t>
            </a:r>
            <a:r>
              <a:rPr lang="en-IN" sz="1100" dirty="0"/>
              <a:t> safe switching to restore partial power immediately</a:t>
            </a:r>
          </a:p>
          <a:p>
            <a:r>
              <a:rPr lang="en-IN" sz="1100" dirty="0"/>
              <a:t>-</a:t>
            </a:r>
            <a:r>
              <a:rPr lang="en-IN" sz="1100" b="1" dirty="0"/>
              <a:t> Integrates </a:t>
            </a:r>
            <a:r>
              <a:rPr lang="en-IN" sz="1100" dirty="0"/>
              <a:t>consumer complaints as a crowdsource signal</a:t>
            </a:r>
          </a:p>
          <a:p>
            <a:r>
              <a:rPr lang="en-IN" sz="1100" dirty="0"/>
              <a:t>- </a:t>
            </a:r>
            <a:r>
              <a:rPr lang="en-IN" sz="1100" b="1" dirty="0" err="1"/>
              <a:t>TerraShield</a:t>
            </a:r>
            <a:r>
              <a:rPr lang="en-IN" sz="1100" b="1" dirty="0"/>
              <a:t> module </a:t>
            </a:r>
            <a:r>
              <a:rPr lang="en-IN" sz="1100" dirty="0"/>
              <a:t>— detects underground tower corrosion </a:t>
            </a:r>
            <a:r>
              <a:rPr lang="en-IN" sz="1100" b="1" dirty="0"/>
              <a:t>before</a:t>
            </a:r>
            <a:r>
              <a:rPr lang="en-IN" sz="1100" dirty="0"/>
              <a:t> it causes faults</a:t>
            </a:r>
          </a:p>
          <a:p>
            <a:endParaRPr lang="en-IN" sz="10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E4CA2-FF69-749C-B92E-8C760495CDE8}"/>
              </a:ext>
            </a:extLst>
          </p:cNvPr>
          <p:cNvSpPr txBox="1"/>
          <p:nvPr/>
        </p:nvSpPr>
        <p:spPr>
          <a:xfrm rot="10800000" flipH="1" flipV="1">
            <a:off x="370068" y="779372"/>
            <a:ext cx="8290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GridSentinel</a:t>
            </a:r>
            <a:r>
              <a:rPr lang="en-IN" dirty="0"/>
              <a:t> - AI-Powered Rural Feeder Fault Localization with Underground Infrastructure Intelligence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B87C51-26DD-05AD-BC74-F30221207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074203"/>
              </p:ext>
            </p:extLst>
          </p:nvPr>
        </p:nvGraphicFramePr>
        <p:xfrm>
          <a:off x="4380804" y="1597938"/>
          <a:ext cx="4629667" cy="293913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1585">
                  <a:extLst>
                    <a:ext uri="{9D8B030D-6E8A-4147-A177-3AD203B41FA5}">
                      <a16:colId xmlns:a16="http://schemas.microsoft.com/office/drawing/2014/main" val="1838647780"/>
                    </a:ext>
                  </a:extLst>
                </a:gridCol>
                <a:gridCol w="1624859">
                  <a:extLst>
                    <a:ext uri="{9D8B030D-6E8A-4147-A177-3AD203B41FA5}">
                      <a16:colId xmlns:a16="http://schemas.microsoft.com/office/drawing/2014/main" val="3566431266"/>
                    </a:ext>
                  </a:extLst>
                </a:gridCol>
                <a:gridCol w="1543223">
                  <a:extLst>
                    <a:ext uri="{9D8B030D-6E8A-4147-A177-3AD203B41FA5}">
                      <a16:colId xmlns:a16="http://schemas.microsoft.com/office/drawing/2014/main" val="2582562015"/>
                    </a:ext>
                  </a:extLst>
                </a:gridCol>
              </a:tblGrid>
              <a:tr h="314908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Aspect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bg1"/>
                          </a:solidFill>
                        </a:rPr>
                        <a:t>Existing System</a:t>
                      </a:r>
                      <a:endParaRPr lang="en-IN" sz="10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GridSentinel</a:t>
                      </a:r>
                      <a:endParaRPr lang="en-IN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493865"/>
                  </a:ext>
                </a:extLst>
              </a:tr>
              <a:tr h="61815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Data Sources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1-2 Sensors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6+ (sensors + weather + complaints + underground)</a:t>
                      </a:r>
                      <a:endParaRPr lang="en-IN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424005"/>
                  </a:ext>
                </a:extLst>
              </a:tr>
              <a:tr h="43154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Fault Logic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Fixed threshold rules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Graph Neural Network (topology aware)</a:t>
                      </a:r>
                      <a:endParaRPr lang="en-IN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231580"/>
                  </a:ext>
                </a:extLst>
              </a:tr>
              <a:tr h="38488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Underground health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 monitored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TFR/ERT via </a:t>
                      </a:r>
                      <a:r>
                        <a:rPr lang="en-US" sz="1000" err="1"/>
                        <a:t>TerraShield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05662"/>
                  </a:ext>
                </a:extLst>
              </a:tr>
              <a:tr h="338234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Explainability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Black Box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SHAP - “Why Section 3?”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028577"/>
                  </a:ext>
                </a:extLst>
              </a:tr>
              <a:tr h="43154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Sparse data support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Needs Dense Sensor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Works with 1 sensor + complaints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47544"/>
                  </a:ext>
                </a:extLst>
              </a:tr>
              <a:tr h="41987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Restoration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Stops at detection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Switching guide + crew navigation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874490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725E2E-15D0-499A-D8BB-1AFBE35F03C2}"/>
              </a:ext>
            </a:extLst>
          </p:cNvPr>
          <p:cNvCxnSpPr/>
          <p:nvPr/>
        </p:nvCxnSpPr>
        <p:spPr>
          <a:xfrm>
            <a:off x="4105740" y="1219200"/>
            <a:ext cx="0" cy="379141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B4398DE-F0D6-1ACB-9514-47EC9471DD60}"/>
              </a:ext>
            </a:extLst>
          </p:cNvPr>
          <p:cNvSpPr txBox="1"/>
          <p:nvPr/>
        </p:nvSpPr>
        <p:spPr>
          <a:xfrm>
            <a:off x="4380803" y="1224361"/>
            <a:ext cx="2414015" cy="307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Innovation &amp; Uniqueness:</a:t>
            </a:r>
            <a:endParaRPr lang="en-IN" b="1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ED45770-7BFD-C60D-7C40-5F20F1624B68}"/>
              </a:ext>
            </a:extLst>
          </p:cNvPr>
          <p:cNvCxnSpPr>
            <a:cxnSpLocks/>
          </p:cNvCxnSpPr>
          <p:nvPr/>
        </p:nvCxnSpPr>
        <p:spPr>
          <a:xfrm>
            <a:off x="2817775" y="1144133"/>
            <a:ext cx="2575930" cy="63107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814" y="20213"/>
            <a:ext cx="817186" cy="702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40135" cy="742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32878" y="78912"/>
            <a:ext cx="5278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IN" sz="32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80F446-7D16-3456-B3A5-126F36AC0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187852"/>
              </p:ext>
            </p:extLst>
          </p:nvPr>
        </p:nvGraphicFramePr>
        <p:xfrm>
          <a:off x="829253" y="946502"/>
          <a:ext cx="3897134" cy="37737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48567">
                  <a:extLst>
                    <a:ext uri="{9D8B030D-6E8A-4147-A177-3AD203B41FA5}">
                      <a16:colId xmlns:a16="http://schemas.microsoft.com/office/drawing/2014/main" val="1553760910"/>
                    </a:ext>
                  </a:extLst>
                </a:gridCol>
                <a:gridCol w="1948567">
                  <a:extLst>
                    <a:ext uri="{9D8B030D-6E8A-4147-A177-3AD203B41FA5}">
                      <a16:colId xmlns:a16="http://schemas.microsoft.com/office/drawing/2014/main" val="4211141946"/>
                    </a:ext>
                  </a:extLst>
                </a:gridCol>
              </a:tblGrid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Layer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Technology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632377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Anomaly Detection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PyTorch</a:t>
                      </a:r>
                      <a:r>
                        <a:rPr lang="en-US" sz="1000" dirty="0"/>
                        <a:t> – LSTM Autoencoder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58703"/>
                  </a:ext>
                </a:extLst>
              </a:tr>
              <a:tr h="429141">
                <a:tc>
                  <a:txBody>
                    <a:bodyPr/>
                    <a:lstStyle/>
                    <a:p>
                      <a:r>
                        <a:rPr lang="en-US" sz="1000"/>
                        <a:t>Fault Localization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PyTorch</a:t>
                      </a:r>
                      <a:r>
                        <a:rPr lang="en-US" sz="1000" dirty="0"/>
                        <a:t> Geometric – Graph Attention Network (GAT)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367631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Cause Classification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XGBoost</a:t>
                      </a:r>
                      <a:r>
                        <a:rPr lang="en-US" sz="1000" dirty="0"/>
                        <a:t> / </a:t>
                      </a:r>
                      <a:r>
                        <a:rPr lang="en-US" sz="1000" dirty="0" err="1"/>
                        <a:t>LightGBM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847395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Explainability (XAI)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SHAP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529750"/>
                  </a:ext>
                </a:extLst>
              </a:tr>
              <a:tr h="429141">
                <a:tc>
                  <a:txBody>
                    <a:bodyPr/>
                    <a:lstStyle/>
                    <a:p>
                      <a:r>
                        <a:rPr lang="en-US" sz="1000"/>
                        <a:t>NLP (Complaints)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spaCy</a:t>
                      </a:r>
                      <a:r>
                        <a:rPr lang="en-US" sz="1000" dirty="0"/>
                        <a:t> + multilingual sentence-transformers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820067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Backend API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err="1"/>
                        <a:t>FastAPI</a:t>
                      </a:r>
                      <a:r>
                        <a:rPr lang="en-US" sz="1000"/>
                        <a:t> (Python)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787205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 dirty="0"/>
                        <a:t>Database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err="1"/>
                        <a:t>PgSQL</a:t>
                      </a:r>
                      <a:r>
                        <a:rPr lang="en-US" sz="1000"/>
                        <a:t> + </a:t>
                      </a:r>
                      <a:r>
                        <a:rPr lang="en-US" sz="1000" err="1"/>
                        <a:t>TimescaleDB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94864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GIS / Maps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Leaflet.js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262748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 dirty="0"/>
                        <a:t>Frontend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React + Vite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616997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Power Simulation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err="1"/>
                        <a:t>Pandapower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458210"/>
                  </a:ext>
                </a:extLst>
              </a:tr>
              <a:tr h="429141">
                <a:tc>
                  <a:txBody>
                    <a:bodyPr/>
                    <a:lstStyle/>
                    <a:p>
                      <a:r>
                        <a:rPr lang="en-US" sz="1000"/>
                        <a:t>Hardware (</a:t>
                      </a:r>
                      <a:r>
                        <a:rPr lang="en-US" sz="1000" err="1"/>
                        <a:t>TerraShield</a:t>
                      </a:r>
                      <a:r>
                        <a:rPr lang="en-US" sz="1000"/>
                        <a:t>)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Arduino Uno + AD620 + ADS1115 + 4-electrode ERT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66655"/>
                  </a:ext>
                </a:extLst>
              </a:tr>
              <a:tr h="248629">
                <a:tc>
                  <a:txBody>
                    <a:bodyPr/>
                    <a:lstStyle/>
                    <a:p>
                      <a:r>
                        <a:rPr lang="en-US" sz="1000"/>
                        <a:t>Deployment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Docker + Docker Compose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8702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BA3CBD0-F6C1-8E34-ECBD-862813FC5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394" y="663687"/>
            <a:ext cx="2460309" cy="43892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2FC230-76E2-53F0-6BAE-2456FB9274CD}"/>
              </a:ext>
            </a:extLst>
          </p:cNvPr>
          <p:cNvSpPr txBox="1"/>
          <p:nvPr/>
        </p:nvSpPr>
        <p:spPr>
          <a:xfrm>
            <a:off x="750314" y="644340"/>
            <a:ext cx="1918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 Stack: 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D56D6-E9AD-510E-FCE1-D44E3C72E2D0}"/>
              </a:ext>
            </a:extLst>
          </p:cNvPr>
          <p:cNvSpPr txBox="1"/>
          <p:nvPr/>
        </p:nvSpPr>
        <p:spPr>
          <a:xfrm>
            <a:off x="5093695" y="2310140"/>
            <a:ext cx="817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</a:t>
            </a:r>
            <a:br>
              <a:rPr lang="en-US" b="1" dirty="0"/>
            </a:br>
            <a:r>
              <a:rPr lang="en-US" b="1" dirty="0"/>
              <a:t>Flow:</a:t>
            </a:r>
            <a:endParaRPr lang="en-IN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5A3A35-330A-7722-D65E-B3A2CA8B89AE}"/>
              </a:ext>
            </a:extLst>
          </p:cNvPr>
          <p:cNvCxnSpPr>
            <a:cxnSpLocks/>
          </p:cNvCxnSpPr>
          <p:nvPr/>
        </p:nvCxnSpPr>
        <p:spPr>
          <a:xfrm>
            <a:off x="5010614" y="885613"/>
            <a:ext cx="0" cy="38954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CA884214-87C5-F88D-76CF-8D5A2EEE79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645" y="885613"/>
            <a:ext cx="489895" cy="4898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99168-D3C3-2484-B9AC-48069A819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855" y="4653334"/>
            <a:ext cx="584775" cy="5847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6DB672A-AB99-A17F-22E9-139909448D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008" y="2725645"/>
            <a:ext cx="438116" cy="45180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BB41940-7A02-F6E3-E352-1D3DA394F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645" y="1479809"/>
            <a:ext cx="489895" cy="48989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EFAA616-7A2B-3952-1138-7D8522015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97" y="2074005"/>
            <a:ext cx="547339" cy="54733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5D66BD5-FC57-D41A-F684-0FD8ACC59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6072" y="4645795"/>
            <a:ext cx="592314" cy="59231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24EA1D6-41B6-8B30-80EA-C1DEB576A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671" y="3281753"/>
            <a:ext cx="547339" cy="54733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42C06A5-3284-8B0B-40F1-C00A46C5F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74690"/>
          <a:stretch>
            <a:fillRect/>
          </a:stretch>
        </p:blipFill>
        <p:spPr>
          <a:xfrm>
            <a:off x="31563" y="3819433"/>
            <a:ext cx="760389" cy="6700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107D0B-9A62-05B1-188A-A0B58C729C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61980" y="4789117"/>
            <a:ext cx="854272" cy="3056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04CD7F-2E3F-7447-1F14-DFBAEB5D1A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28772" y="4789117"/>
            <a:ext cx="916978" cy="3159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329D28F-A548-D2BA-F882-A1468CBB8EC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86260"/>
          <a:stretch>
            <a:fillRect/>
          </a:stretch>
        </p:blipFill>
        <p:spPr>
          <a:xfrm>
            <a:off x="1162813" y="4748392"/>
            <a:ext cx="234767" cy="38711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A25889F-DEBA-3E6B-0E28-77EE8E62B169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71951"/>
          <a:stretch>
            <a:fillRect/>
          </a:stretch>
        </p:blipFill>
        <p:spPr>
          <a:xfrm>
            <a:off x="27015" y="4489698"/>
            <a:ext cx="744649" cy="706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0135" cy="7426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814" y="20213"/>
            <a:ext cx="817186" cy="7021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38868" y="148683"/>
            <a:ext cx="606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933046-3C87-7307-8CD3-B69CFE669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003057"/>
              </p:ext>
            </p:extLst>
          </p:nvPr>
        </p:nvGraphicFramePr>
        <p:xfrm>
          <a:off x="206515" y="1332945"/>
          <a:ext cx="3739375" cy="3388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7551">
                  <a:extLst>
                    <a:ext uri="{9D8B030D-6E8A-4147-A177-3AD203B41FA5}">
                      <a16:colId xmlns:a16="http://schemas.microsoft.com/office/drawing/2014/main" val="740776601"/>
                    </a:ext>
                  </a:extLst>
                </a:gridCol>
                <a:gridCol w="2051824">
                  <a:extLst>
                    <a:ext uri="{9D8B030D-6E8A-4147-A177-3AD203B41FA5}">
                      <a16:colId xmlns:a16="http://schemas.microsoft.com/office/drawing/2014/main" val="2378234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Area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Evidence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89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All open-source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PyTorch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FastAPI</a:t>
                      </a:r>
                      <a:r>
                        <a:rPr lang="en-US" sz="1200"/>
                        <a:t>, React, Leaflet – zero licensing cost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424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No real grid needed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Pandapower</a:t>
                      </a:r>
                      <a:r>
                        <a:rPr lang="en-US" sz="1200" dirty="0"/>
                        <a:t> simulates realistic rural feeders – no real grid access needed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17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Hardware Ready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TerraShield</a:t>
                      </a:r>
                      <a:r>
                        <a:rPr lang="en-US" sz="1200" dirty="0"/>
                        <a:t> prototype already built (Arduino + AD620 + ADS1115)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726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Free data sources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IEEE PES Test Feeders + Open-</a:t>
                      </a:r>
                      <a:r>
                        <a:rPr lang="en-US" sz="1200" err="1"/>
                        <a:t>Meteo</a:t>
                      </a:r>
                      <a:r>
                        <a:rPr lang="en-US" sz="1200"/>
                        <a:t> API (no key needed)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191855"/>
                  </a:ext>
                </a:extLst>
              </a:tr>
              <a:tr h="544694">
                <a:tc>
                  <a:txBody>
                    <a:bodyPr/>
                    <a:lstStyle/>
                    <a:p>
                      <a:r>
                        <a:rPr lang="en-US" sz="1200"/>
                        <a:t>Easy deployment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Docker compose – one command, runs on a single laptop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924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059113-ED3B-6C4F-1D0B-572EB5B15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292968"/>
              </p:ext>
            </p:extLst>
          </p:nvPr>
        </p:nvGraphicFramePr>
        <p:xfrm>
          <a:off x="4826403" y="1332945"/>
          <a:ext cx="4072574" cy="3205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21352">
                  <a:extLst>
                    <a:ext uri="{9D8B030D-6E8A-4147-A177-3AD203B41FA5}">
                      <a16:colId xmlns:a16="http://schemas.microsoft.com/office/drawing/2014/main" val="1309730152"/>
                    </a:ext>
                  </a:extLst>
                </a:gridCol>
                <a:gridCol w="699200">
                  <a:extLst>
                    <a:ext uri="{9D8B030D-6E8A-4147-A177-3AD203B41FA5}">
                      <a16:colId xmlns:a16="http://schemas.microsoft.com/office/drawing/2014/main" val="1196046169"/>
                    </a:ext>
                  </a:extLst>
                </a:gridCol>
                <a:gridCol w="1652022">
                  <a:extLst>
                    <a:ext uri="{9D8B030D-6E8A-4147-A177-3AD203B41FA5}">
                      <a16:colId xmlns:a16="http://schemas.microsoft.com/office/drawing/2014/main" val="1850131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Challenge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Risk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Mitigation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3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No real DISCOM sensor data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High</a:t>
                      </a:r>
                      <a:endParaRPr lang="en-IN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err="1"/>
                        <a:t>pandapower</a:t>
                      </a:r>
                      <a:r>
                        <a:rPr lang="en-US" sz="1000"/>
                        <a:t> synthetic data + IEEE feeder benchmarks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011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Small feeder graph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solidFill>
                            <a:srgbClr val="FFC000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Data augmentation: fault injection at every node variant 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89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Multilingual complaints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C000"/>
                          </a:solidFill>
                        </a:rPr>
                        <a:t>Medium</a:t>
                      </a:r>
                      <a:endParaRPr lang="en-IN" sz="1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err="1"/>
                        <a:t>MiniLM</a:t>
                      </a:r>
                      <a:r>
                        <a:rPr lang="en-US" sz="1000"/>
                        <a:t> supports 50+ languages incl. Hindi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555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Sensor Deployment Cost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High</a:t>
                      </a:r>
                      <a:endParaRPr lang="en-IN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Phased model: 3 priority sensors per feeder (head/mid/tail)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98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TerraShield</a:t>
                      </a:r>
                      <a:r>
                        <a:rPr lang="en-US" sz="1000"/>
                        <a:t> time-scale mismatch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C000"/>
                          </a:solidFill>
                        </a:rPr>
                        <a:t>Medium</a:t>
                      </a:r>
                      <a:endParaRPr lang="en-IN" sz="1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TFR/ERT as slow-changing background risk score (weekly)</a:t>
                      </a:r>
                      <a:endParaRPr lang="en-IN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70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Live hardware demo risk</a:t>
                      </a:r>
                      <a:endParaRPr lang="en-IN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C000"/>
                          </a:solidFill>
                        </a:rPr>
                        <a:t>Medium</a:t>
                      </a:r>
                      <a:endParaRPr lang="en-IN" sz="1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Python serial mock fallback for Arduino simulation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101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F37147-0BA6-1E5D-A75B-F0E96F9BE049}"/>
              </a:ext>
            </a:extLst>
          </p:cNvPr>
          <p:cNvSpPr txBox="1"/>
          <p:nvPr/>
        </p:nvSpPr>
        <p:spPr>
          <a:xfrm>
            <a:off x="206515" y="981644"/>
            <a:ext cx="316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makes </a:t>
            </a:r>
            <a:r>
              <a:rPr lang="en-US" b="1" dirty="0" err="1"/>
              <a:t>GridSentinel</a:t>
            </a:r>
            <a:r>
              <a:rPr lang="en-US" b="1" dirty="0"/>
              <a:t> Feasible:</a:t>
            </a:r>
            <a:endParaRPr lang="en-IN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3CF26-1283-8143-A0CA-56AFBFFA2A69}"/>
              </a:ext>
            </a:extLst>
          </p:cNvPr>
          <p:cNvCxnSpPr/>
          <p:nvPr/>
        </p:nvCxnSpPr>
        <p:spPr>
          <a:xfrm>
            <a:off x="4386146" y="853034"/>
            <a:ext cx="0" cy="405161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E1BAD5-CB2C-5370-BC7A-1A1CEFF21537}"/>
              </a:ext>
            </a:extLst>
          </p:cNvPr>
          <p:cNvSpPr txBox="1"/>
          <p:nvPr/>
        </p:nvSpPr>
        <p:spPr>
          <a:xfrm>
            <a:off x="4757855" y="981644"/>
            <a:ext cx="316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Challenges &amp; Mitigation:</a:t>
            </a:r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0135" cy="7426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814" y="20213"/>
            <a:ext cx="817186" cy="7021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09132" y="148683"/>
            <a:ext cx="6177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      IMPACT AND BENEFITS</a:t>
            </a:r>
            <a:endParaRPr lang="en-IN" sz="3200"/>
          </a:p>
        </p:txBody>
      </p:sp>
      <p:sp>
        <p:nvSpPr>
          <p:cNvPr id="4" name="TextBox 3"/>
          <p:cNvSpPr txBox="1"/>
          <p:nvPr/>
        </p:nvSpPr>
        <p:spPr>
          <a:xfrm>
            <a:off x="149419" y="868375"/>
            <a:ext cx="4424932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defRPr/>
            </a:pPr>
            <a:r>
              <a:rPr lang="en-IN" b="1" dirty="0"/>
              <a:t>     Social Benefits</a:t>
            </a:r>
            <a:endParaRPr lang="en-US" dirty="0"/>
          </a:p>
          <a:p>
            <a:pPr marL="285750" indent="-285750" defTabSz="457200">
              <a:buChar char="•"/>
              <a:defRPr/>
            </a:pPr>
            <a:r>
              <a:rPr lang="en-IN" dirty="0"/>
              <a:t>Faster power restoration for schools, health centres, irrigation pumps</a:t>
            </a:r>
          </a:p>
          <a:p>
            <a:pPr marL="285750" indent="-285750" defTabSz="457200">
              <a:buChar char="•"/>
              <a:defRPr/>
            </a:pPr>
            <a:r>
              <a:rPr lang="en-IN" dirty="0"/>
              <a:t>Prevents crop loss for farmers dependent on electric pump irrigation</a:t>
            </a:r>
          </a:p>
          <a:p>
            <a:pPr marL="285750" indent="-285750" defTabSz="457200">
              <a:buChar char="•"/>
              <a:defRPr/>
            </a:pPr>
            <a:r>
              <a:rPr lang="en-IN" dirty="0"/>
              <a:t>Gives rural consumers a voice via complaint integration</a:t>
            </a:r>
          </a:p>
          <a:p>
            <a:pPr defTabSz="457200">
              <a:defRPr/>
            </a:pPr>
            <a:r>
              <a:rPr lang="en-IN" b="1" dirty="0"/>
              <a:t>      Economic Benefits</a:t>
            </a:r>
            <a:endParaRPr lang="en-IN" dirty="0"/>
          </a:p>
          <a:p>
            <a:pPr marL="285750" indent="-285750" defTabSz="457200">
              <a:buChar char="•"/>
              <a:defRPr/>
            </a:pPr>
            <a:r>
              <a:rPr lang="en-IN" dirty="0"/>
              <a:t>Reduces crew patrol cost (currently ₹500-₹2000/km/inspection)</a:t>
            </a:r>
          </a:p>
          <a:p>
            <a:pPr marL="285750" indent="-285750" defTabSz="457200">
              <a:buChar char="•"/>
              <a:defRPr/>
            </a:pPr>
            <a:r>
              <a:rPr lang="en-IN" dirty="0"/>
              <a:t>Addresses ₹1,500-₹4,000 crore/year rural economic loss from outages</a:t>
            </a:r>
          </a:p>
          <a:p>
            <a:pPr marL="285750" indent="-285750" defTabSz="457200">
              <a:buChar char="•"/>
              <a:defRPr/>
            </a:pPr>
            <a:r>
              <a:rPr lang="en-IN" dirty="0"/>
              <a:t>Proactive maintenance – fewer emergency replacements</a:t>
            </a:r>
          </a:p>
          <a:p>
            <a:pPr defTabSz="457200">
              <a:defRPr/>
            </a:pPr>
            <a:r>
              <a:rPr lang="en-IN" b="1" dirty="0"/>
              <a:t>      Environmental Benefits</a:t>
            </a:r>
            <a:endParaRPr lang="en-IN" dirty="0"/>
          </a:p>
          <a:p>
            <a:pPr marL="285750" indent="-285750" defTabSz="457200">
              <a:buChar char="•"/>
              <a:defRPr/>
            </a:pPr>
            <a:r>
              <a:rPr lang="en-IN" dirty="0"/>
              <a:t>Fewer diesel generator hours during outages (less emissions)</a:t>
            </a:r>
          </a:p>
          <a:p>
            <a:pPr marL="285750" indent="-285750" defTabSz="457200">
              <a:buChar char="•"/>
              <a:defRPr/>
            </a:pPr>
            <a:r>
              <a:rPr lang="en-IN" dirty="0"/>
              <a:t>Extended infrastructure life via early corrosion detection</a:t>
            </a:r>
          </a:p>
          <a:p>
            <a:pPr defTabSz="457200">
              <a:defRPr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9C8794-CBF4-79DE-D467-8534FCCC3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477644"/>
              </p:ext>
            </p:extLst>
          </p:nvPr>
        </p:nvGraphicFramePr>
        <p:xfrm>
          <a:off x="4874121" y="1274216"/>
          <a:ext cx="4120460" cy="34612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88678">
                  <a:extLst>
                    <a:ext uri="{9D8B030D-6E8A-4147-A177-3AD203B41FA5}">
                      <a16:colId xmlns:a16="http://schemas.microsoft.com/office/drawing/2014/main" val="372674571"/>
                    </a:ext>
                  </a:extLst>
                </a:gridCol>
                <a:gridCol w="1294622">
                  <a:extLst>
                    <a:ext uri="{9D8B030D-6E8A-4147-A177-3AD203B41FA5}">
                      <a16:colId xmlns:a16="http://schemas.microsoft.com/office/drawing/2014/main" val="2302202242"/>
                    </a:ext>
                  </a:extLst>
                </a:gridCol>
                <a:gridCol w="1437160">
                  <a:extLst>
                    <a:ext uri="{9D8B030D-6E8A-4147-A177-3AD203B41FA5}">
                      <a16:colId xmlns:a16="http://schemas.microsoft.com/office/drawing/2014/main" val="1014586620"/>
                    </a:ext>
                  </a:extLst>
                </a:gridCol>
              </a:tblGrid>
              <a:tr h="688132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After </a:t>
                      </a:r>
                      <a:r>
                        <a:rPr lang="en-US" sz="1600" dirty="0" err="1"/>
                        <a:t>GridSentinel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10348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Fault search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6-24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 1 hour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197865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Inspection zone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50-100 km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3-5 km section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093300"/>
                  </a:ext>
                </a:extLst>
              </a:tr>
              <a:tr h="813714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Data sources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696718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Outage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Predictive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9532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A98044-7907-60C9-2448-F16F6C0FA897}"/>
              </a:ext>
            </a:extLst>
          </p:cNvPr>
          <p:cNvCxnSpPr/>
          <p:nvPr/>
        </p:nvCxnSpPr>
        <p:spPr>
          <a:xfrm>
            <a:off x="4572000" y="966439"/>
            <a:ext cx="0" cy="39034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FF6D61-1DDA-43BD-F869-3AB1A283BA4B}"/>
              </a:ext>
            </a:extLst>
          </p:cNvPr>
          <p:cNvSpPr txBox="1"/>
          <p:nvPr/>
        </p:nvSpPr>
        <p:spPr>
          <a:xfrm>
            <a:off x="4874121" y="966439"/>
            <a:ext cx="249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Operational Impact:</a:t>
            </a:r>
            <a:endParaRPr lang="en-IN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40135" cy="7426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814" y="20213"/>
            <a:ext cx="817186" cy="7021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0135" y="137613"/>
            <a:ext cx="7586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      RESEARCH AND REFERENCES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70067" y="1093921"/>
            <a:ext cx="3829414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b="1" dirty="0"/>
              <a:t>Key References:</a:t>
            </a:r>
          </a:p>
          <a:p>
            <a:endParaRPr lang="en-IN" sz="1600" b="1" dirty="0"/>
          </a:p>
          <a:p>
            <a:pPr marL="285750" indent="-285750">
              <a:buChar char="•"/>
            </a:pPr>
            <a:r>
              <a:rPr lang="en-IN" sz="1600" dirty="0"/>
              <a:t>IEEE PES Test Feeders: </a:t>
            </a:r>
            <a:r>
              <a:rPr lang="en-IN" sz="16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https://cmte.ieee.org/pes-testfeeders/</a:t>
            </a:r>
            <a:endParaRPr lang="en-IN" sz="1600" dirty="0">
              <a:solidFill>
                <a:srgbClr val="0070C0"/>
              </a:solidFill>
            </a:endParaRPr>
          </a:p>
          <a:p>
            <a:pPr marL="285750" indent="-285750">
              <a:buChar char="•"/>
            </a:pPr>
            <a:r>
              <a:rPr lang="en-IN" sz="1600" dirty="0" err="1"/>
              <a:t>pandapower</a:t>
            </a:r>
            <a:r>
              <a:rPr lang="en-IN" sz="1600" dirty="0"/>
              <a:t>: </a:t>
            </a:r>
            <a:r>
              <a:rPr lang="en-IN" sz="16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https://www.pandapower.org/</a:t>
            </a:r>
            <a:endParaRPr lang="en-IN" sz="1600" dirty="0">
              <a:solidFill>
                <a:srgbClr val="0070C0"/>
              </a:solidFill>
            </a:endParaRPr>
          </a:p>
          <a:p>
            <a:pPr marL="285750" indent="-285750">
              <a:buChar char="•"/>
            </a:pPr>
            <a:r>
              <a:rPr lang="en-IN" sz="1600" dirty="0"/>
              <a:t>SHAP (</a:t>
            </a:r>
            <a:r>
              <a:rPr lang="en-IN" sz="1600" dirty="0" err="1"/>
              <a:t>NeurIPS</a:t>
            </a:r>
            <a:r>
              <a:rPr lang="en-IN" sz="1600" dirty="0"/>
              <a:t> 2017): </a:t>
            </a:r>
            <a:r>
              <a:rPr lang="en-IN" sz="1600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https://arxiv.org/abs/1705.07874</a:t>
            </a:r>
            <a:endParaRPr lang="en-IN" sz="1600" dirty="0">
              <a:solidFill>
                <a:srgbClr val="0070C0"/>
              </a:solidFill>
            </a:endParaRPr>
          </a:p>
          <a:p>
            <a:pPr marL="285750" indent="-285750">
              <a:buChar char="•"/>
            </a:pPr>
            <a:r>
              <a:rPr lang="en-IN" sz="1600" dirty="0"/>
              <a:t>Open-</a:t>
            </a:r>
            <a:r>
              <a:rPr lang="en-IN" sz="1600" dirty="0" err="1"/>
              <a:t>Meteo</a:t>
            </a:r>
            <a:r>
              <a:rPr lang="en-IN" sz="1600" dirty="0"/>
              <a:t> API: </a:t>
            </a:r>
            <a:r>
              <a:rPr lang="en-IN" sz="1600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https://open-meteo.com/</a:t>
            </a:r>
            <a:endParaRPr lang="en-IN" sz="1600" dirty="0">
              <a:solidFill>
                <a:srgbClr val="0070C0"/>
              </a:solidFill>
            </a:endParaRPr>
          </a:p>
          <a:p>
            <a:pPr marL="285750" indent="-285750">
              <a:buChar char="•"/>
            </a:pPr>
            <a:r>
              <a:rPr lang="en-IN" sz="1600" dirty="0" err="1"/>
              <a:t>MoP</a:t>
            </a:r>
            <a:r>
              <a:rPr lang="en-IN" sz="1600" dirty="0"/>
              <a:t> RDSS Scheme 2021 | CERC Smart Grid Vision 2030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02433E-73B7-3B64-AB18-B1214C56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195120"/>
              </p:ext>
            </p:extLst>
          </p:nvPr>
        </p:nvGraphicFramePr>
        <p:xfrm>
          <a:off x="4519960" y="1191455"/>
          <a:ext cx="4182840" cy="27605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46613">
                  <a:extLst>
                    <a:ext uri="{9D8B030D-6E8A-4147-A177-3AD203B41FA5}">
                      <a16:colId xmlns:a16="http://schemas.microsoft.com/office/drawing/2014/main" val="730884800"/>
                    </a:ext>
                  </a:extLst>
                </a:gridCol>
                <a:gridCol w="2136227">
                  <a:extLst>
                    <a:ext uri="{9D8B030D-6E8A-4147-A177-3AD203B41FA5}">
                      <a16:colId xmlns:a16="http://schemas.microsoft.com/office/drawing/2014/main" val="2230949016"/>
                    </a:ext>
                  </a:extLst>
                </a:gridCol>
              </a:tblGrid>
              <a:tr h="3086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SDG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How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76824"/>
                  </a:ext>
                </a:extLst>
              </a:tr>
              <a:tr h="5401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SDG 7 – Affordable &amp; Clean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Reliable rural electricity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865849"/>
                  </a:ext>
                </a:extLst>
              </a:tr>
              <a:tr h="54011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SDG 9 – Innovation &amp;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Smart grid AI for underserved areas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955969"/>
                  </a:ext>
                </a:extLst>
              </a:tr>
              <a:tr h="68586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SDG 11 – Sustainable Communities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Resilient power for rural villages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285584"/>
                  </a:ext>
                </a:extLst>
              </a:tr>
              <a:tr h="68586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SDG 13 – Climate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Reduces diesel backup + infrastructure waste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4779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7AECCE-3FD1-1A61-98C8-17CEEEA1DD2A}"/>
              </a:ext>
            </a:extLst>
          </p:cNvPr>
          <p:cNvSpPr txBox="1"/>
          <p:nvPr/>
        </p:nvSpPr>
        <p:spPr>
          <a:xfrm>
            <a:off x="4440062" y="786205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SDG Alignment: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149E21-473C-763E-5B8E-287F7F9348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4218" y="4064907"/>
            <a:ext cx="773330" cy="773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2D7EF2-3DE3-8711-FC85-6CC23E35B9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9959" y="4064906"/>
            <a:ext cx="773331" cy="7733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A08DA7-A8BC-249C-7E3E-F1BD2484F0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6381" y="4077257"/>
            <a:ext cx="760980" cy="760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E70FDD-CE4F-B927-DF9B-7CE193FBE1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6120" y="4064906"/>
            <a:ext cx="773332" cy="77333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FD981B-CCDC-0791-A5D3-09E538DC631B}"/>
              </a:ext>
            </a:extLst>
          </p:cNvPr>
          <p:cNvCxnSpPr/>
          <p:nvPr/>
        </p:nvCxnSpPr>
        <p:spPr>
          <a:xfrm>
            <a:off x="4199481" y="877229"/>
            <a:ext cx="0" cy="39610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864</Words>
  <Application>Microsoft Office PowerPoint</Application>
  <PresentationFormat>On-screen Show (16:9)</PresentationFormat>
  <Paragraphs>175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Walbaum Display</vt:lpstr>
      <vt:lpstr>Arial</vt:lpstr>
      <vt:lpstr>Times New Roman</vt:lpstr>
      <vt:lpstr>Google Sans Medium</vt:lpstr>
      <vt:lpstr>Aptos Light</vt:lpstr>
      <vt:lpstr>BohoVogueVTI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kumar singh</dc:creator>
  <cp:lastModifiedBy>Swaraj Gaikwad</cp:lastModifiedBy>
  <cp:revision>9</cp:revision>
  <dcterms:created xsi:type="dcterms:W3CDTF">2026-08-01T06:07:52Z</dcterms:created>
  <dcterms:modified xsi:type="dcterms:W3CDTF">2026-08-09T11:22:30Z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01EC4EEB680C4C1BB9B55E032EB8CB5C_12</vt:lpwstr>
  </property>
  <property fmtid="{D5CDD505-2E9C-101B-9397-08002B2CF9AE}" pid="3" name="KSOProductBuildVer">
    <vt:lpwstr>1033-12.1.0.28032</vt:lpwstr>
  </property>
</Properties>
</file>